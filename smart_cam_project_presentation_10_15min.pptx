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Smart Cam / Three Cam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Полный рассказ о разработанном приложении: слова, фразы и общий контроль качества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1417320" cy="310896"/>
          </a:xfrm>
          <a:prstGeom prst="roundRect">
            <a:avLst/>
          </a:prstGeom>
          <a:solidFill>
            <a:srgbClr val="14968E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10-15 минут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57984" y="1389888"/>
            <a:ext cx="1874519" cy="310896"/>
          </a:xfrm>
          <a:prstGeom prst="roundRect">
            <a:avLst/>
          </a:prstGeom>
          <a:solidFill>
            <a:srgbClr val="3476B4"/>
          </a:solidFill>
          <a:ln>
            <a:solidFill>
              <a:srgbClr val="34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Июль - сентябрь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39112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39112"/>
            <a:ext cx="73152" cy="1051560"/>
          </a:xfrm>
          <a:prstGeom prst="rect">
            <a:avLst/>
          </a:prstGeom>
          <a:solidFill>
            <a:srgbClr val="3476B4"/>
          </a:solidFill>
          <a:ln>
            <a:solidFill>
              <a:srgbClr val="34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67128"/>
            <a:ext cx="20116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3476B4"/>
                </a:solidFill>
                <a:latin typeface="Aptos"/>
              </a:rPr>
              <a:t>1 356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42032"/>
            <a:ext cx="201168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слов в словаре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039112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039112"/>
            <a:ext cx="73152" cy="1051560"/>
          </a:xfrm>
          <a:prstGeom prst="rect">
            <a:avLst/>
          </a:prstGeom>
          <a:solidFill>
            <a:srgbClr val="319A5D"/>
          </a:solidFill>
          <a:ln>
            <a:solidFill>
              <a:srgbClr val="31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167128"/>
            <a:ext cx="20116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319A5D"/>
                </a:solidFill>
                <a:latin typeface="Aptos"/>
              </a:rPr>
              <a:t>916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542032"/>
            <a:ext cx="201168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фраз: ID 1357-2272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3872" y="2039112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33872" y="2039112"/>
            <a:ext cx="73152" cy="1051560"/>
          </a:xfrm>
          <a:prstGeom prst="rect">
            <a:avLst/>
          </a:prstGeom>
          <a:solidFill>
            <a:srgbClr val="7561AB"/>
          </a:solidFill>
          <a:ln>
            <a:solidFill>
              <a:srgbClr val="75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2167128"/>
            <a:ext cx="20116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7561AB"/>
                </a:solidFill>
                <a:latin typeface="Aptos"/>
              </a:rPr>
              <a:t>3 камеры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42032"/>
            <a:ext cx="201168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одна запись с трех ракурсов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21624" y="2039112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21624" y="2039112"/>
            <a:ext cx="73152" cy="1051560"/>
          </a:xfrm>
          <a:prstGeom prst="rect">
            <a:avLst/>
          </a:prstGeom>
          <a:solidFill>
            <a:srgbClr val="EFAD4D"/>
          </a:solidFill>
          <a:ln>
            <a:solidFill>
              <a:srgbClr val="EFA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2167128"/>
            <a:ext cx="20116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EFAD4D"/>
                </a:solidFill>
                <a:latin typeface="Aptos"/>
              </a:rPr>
              <a:t>51 591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2542032"/>
            <a:ext cx="201168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клип проверен по FPS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5760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E272E"/>
                </a:solidFill>
                <a:latin typeface="Aptos"/>
              </a:defRPr>
            </a:pPr>
            <a:r>
              <a:t>Цель: собрать корпус жестов так, чтобы каждое видео было связано с правильным словом или фразой.</a:t>
            </a:r>
          </a:p>
          <a:p>
            <a:pPr>
              <a:spcAft>
                <a:spcPts val="500"/>
              </a:spcAft>
              <a:defRPr sz="1800">
                <a:solidFill>
                  <a:srgbClr val="1E272E"/>
                </a:solidFill>
                <a:latin typeface="Aptos"/>
              </a:defRPr>
            </a:pPr>
            <a:r>
              <a:t>Главная идея приложения: не просто записать MP4, а сразу контролировать метаданные, 3 ракурса, ошибки и качество.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Логика презентации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Три блока, чтобы не смешивать разные задачи</a:t>
            </a:r>
          </a:p>
        </p:txBody>
      </p:sp>
      <p:pic>
        <p:nvPicPr>
          <p:cNvPr id="4" name="Picture 3" descr="corpus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89888"/>
            <a:ext cx="5303520" cy="2331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417320"/>
            <a:ext cx="4480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34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4480560" cy="73152"/>
          </a:xfrm>
          <a:prstGeom prst="rect">
            <a:avLst/>
          </a:prstGeom>
          <a:solidFill>
            <a:srgbClr val="3476B4"/>
          </a:solidFill>
          <a:ln>
            <a:solidFill>
              <a:srgbClr val="34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572768"/>
            <a:ext cx="41605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E272E"/>
                </a:solidFill>
                <a:latin typeface="Aptos"/>
              </a:rPr>
              <a:t>Блок 1: слова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929384"/>
            <a:ext cx="4160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5E6970"/>
                </a:solidFill>
                <a:latin typeface="Aptos"/>
              </a:defRPr>
            </a:pPr>
            <a:r>
              <a:t>1356 слов, PDF-импорт, word_id, дубль, пересъемка, 3 камеры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61488"/>
            <a:ext cx="4480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31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761488"/>
            <a:ext cx="4480560" cy="73152"/>
          </a:xfrm>
          <a:prstGeom prst="rect">
            <a:avLst/>
          </a:prstGeom>
          <a:solidFill>
            <a:srgbClr val="319A5D"/>
          </a:solidFill>
          <a:ln>
            <a:solidFill>
              <a:srgbClr val="31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916936"/>
            <a:ext cx="41605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E272E"/>
                </a:solidFill>
                <a:latin typeface="Aptos"/>
              </a:rPr>
              <a:t>Блок 2: фразы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3273552"/>
            <a:ext cx="4160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5E6970"/>
                </a:solidFill>
                <a:latin typeface="Aptos"/>
              </a:defRPr>
            </a:pPr>
            <a:r>
              <a:t>916 фраз, phrase_id 1357-2272, длинный текст, slug, duration_check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05656"/>
            <a:ext cx="4480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4105656"/>
            <a:ext cx="4480560" cy="73152"/>
          </a:xfrm>
          <a:prstGeom prst="rect">
            <a:avLst/>
          </a:prstGeom>
          <a:solidFill>
            <a:srgbClr val="14968E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4261104"/>
            <a:ext cx="41605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E272E"/>
                </a:solidFill>
                <a:latin typeface="Aptos"/>
              </a:rPr>
              <a:t>Блок 3: общая система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4617720"/>
            <a:ext cx="4160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5E6970"/>
                </a:solidFill>
                <a:latin typeface="Aptos"/>
              </a:defRPr>
            </a:pPr>
            <a:r>
              <a:t>архитектура, логи, FPS, ошибки, отличие от Blackmagic, итог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Приложение от начала до конца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Что происходит с одной записью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36192"/>
            <a:ext cx="1883664" cy="640080"/>
          </a:xfrm>
          <a:prstGeom prst="roundRect">
            <a:avLst/>
          </a:prstGeom>
          <a:solidFill>
            <a:srgbClr val="3476B4"/>
          </a:solidFill>
          <a:ln>
            <a:solidFill>
              <a:srgbClr val="34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Импорт списка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51176" y="1755648"/>
            <a:ext cx="320040" cy="201168"/>
          </a:xfrm>
          <a:prstGeom prst="rightArrow">
            <a:avLst/>
          </a:prstGeom>
          <a:solidFill>
            <a:srgbClr val="5E6970"/>
          </a:solidFill>
          <a:ln>
            <a:solidFill>
              <a:srgbClr val="5E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52928" y="1536192"/>
            <a:ext cx="1883664" cy="640080"/>
          </a:xfrm>
          <a:prstGeom prst="roundRect">
            <a:avLst/>
          </a:prstGeom>
          <a:solidFill>
            <a:srgbClr val="14968E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18304" y="1755648"/>
            <a:ext cx="320040" cy="201168"/>
          </a:xfrm>
          <a:prstGeom prst="rightArrow">
            <a:avLst/>
          </a:prstGeom>
          <a:solidFill>
            <a:srgbClr val="5E6970"/>
          </a:solidFill>
          <a:ln>
            <a:solidFill>
              <a:srgbClr val="5E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0056" y="1536192"/>
            <a:ext cx="1883664" cy="640080"/>
          </a:xfrm>
          <a:prstGeom prst="roundRect">
            <a:avLst/>
          </a:prstGeom>
          <a:solidFill>
            <a:srgbClr val="7561AB"/>
          </a:solidFill>
          <a:ln>
            <a:solidFill>
              <a:srgbClr val="75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 телефона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85432" y="1755648"/>
            <a:ext cx="320040" cy="201168"/>
          </a:xfrm>
          <a:prstGeom prst="rightArrow">
            <a:avLst/>
          </a:prstGeom>
          <a:solidFill>
            <a:srgbClr val="5E6970"/>
          </a:solidFill>
          <a:ln>
            <a:solidFill>
              <a:srgbClr val="5E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87184" y="1536192"/>
            <a:ext cx="1883664" cy="640080"/>
          </a:xfrm>
          <a:prstGeom prst="roundRect">
            <a:avLst/>
          </a:prstGeom>
          <a:solidFill>
            <a:srgbClr val="319A5D"/>
          </a:solidFill>
          <a:ln>
            <a:solidFill>
              <a:srgbClr val="31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MP4 + JSON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52560" y="1755648"/>
            <a:ext cx="320040" cy="201168"/>
          </a:xfrm>
          <a:prstGeom prst="rightArrow">
            <a:avLst/>
          </a:prstGeom>
          <a:solidFill>
            <a:srgbClr val="5E6970"/>
          </a:solidFill>
          <a:ln>
            <a:solidFill>
              <a:srgbClr val="5E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54312" y="1536192"/>
            <a:ext cx="1883664" cy="640080"/>
          </a:xfrm>
          <a:prstGeom prst="roundRect">
            <a:avLst/>
          </a:prstGeom>
          <a:solidFill>
            <a:srgbClr val="EFAD4D"/>
          </a:solidFill>
          <a:ln>
            <a:solidFill>
              <a:srgbClr val="EFA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NDJSON-аудит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788920"/>
            <a:ext cx="1965960" cy="475488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Этап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788920"/>
            <a:ext cx="8641080" cy="475488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Что делает приложение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64408"/>
            <a:ext cx="1965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1. Импорт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264408"/>
            <a:ext cx="8641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читает список слов/фраз, сохраняет ID, текст, count, segment и expected duration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39896"/>
            <a:ext cx="1965960" cy="475488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2. Подготовка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739896"/>
            <a:ext cx="8641080" cy="475488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проверяет 3 телефона, заряд, память, device_id, режим записи и текущего сайнера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215384"/>
            <a:ext cx="1965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3. Запись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215384"/>
            <a:ext cx="8641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одним действием запускает 3 телефона и ведет статус каждого ракурса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690872"/>
            <a:ext cx="1965960" cy="475488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4. Сохранение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4690872"/>
            <a:ext cx="8641080" cy="475488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каждый телефон сохраняет MP4 и metadata JSON рядом с видео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166360"/>
            <a:ext cx="1965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5. Проверка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5166360"/>
            <a:ext cx="8641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Dashboard пишет NDJSON и проверяет 3/3 файлов, длительность, FPS, ошибки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58368"/>
            <a:ext cx="1234440" cy="310896"/>
          </a:xfrm>
          <a:prstGeom prst="roundRect">
            <a:avLst/>
          </a:prstGeom>
          <a:solidFill>
            <a:srgbClr val="3476B4"/>
          </a:solidFill>
          <a:ln>
            <a:solidFill>
              <a:srgbClr val="34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Блок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6984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Сбор слов: 1356 единиц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880360"/>
            <a:ext cx="97840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800" b="0">
                <a:solidFill>
                  <a:srgbClr val="DCE4E5"/>
                </a:solidFill>
                <a:latin typeface="Aptos"/>
              </a:rPr>
              <a:t>Первый этап: сделать надежную систему для словаря, дублей и трех ракурсов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Структура презентации: слова -&gt; фразы -&gt; общий итог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Задача сбора слов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Нужно было не просто снять 1356 слов, а не потерять связь между видео и разметкой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173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73152" cy="1051560"/>
          </a:xfrm>
          <a:prstGeom prst="rect">
            <a:avLst/>
          </a:prstGeom>
          <a:solidFill>
            <a:srgbClr val="3476B4"/>
          </a:solidFill>
          <a:ln>
            <a:solidFill>
              <a:srgbClr val="34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21031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3476B4"/>
                </a:solidFill>
                <a:latin typeface="Aptos"/>
              </a:rPr>
              <a:t>1 356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0312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слов и служебных единиц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73152" cy="1051560"/>
          </a:xfrm>
          <a:prstGeom prst="rect">
            <a:avLst/>
          </a:prstGeom>
          <a:solidFill>
            <a:srgbClr val="7561AB"/>
          </a:solidFill>
          <a:ln>
            <a:solidFill>
              <a:srgbClr val="75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545336"/>
            <a:ext cx="21031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7561AB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1920240"/>
            <a:ext cx="210312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ракурса на каждую запись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4173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1417320"/>
            <a:ext cx="73152" cy="1051560"/>
          </a:xfrm>
          <a:prstGeom prst="rect">
            <a:avLst/>
          </a:prstGeom>
          <a:solidFill>
            <a:srgbClr val="14968E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545336"/>
            <a:ext cx="21031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14968E"/>
                </a:solidFill>
                <a:latin typeface="Aptos"/>
              </a:rPr>
              <a:t>word_id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920240"/>
            <a:ext cx="210312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главный адрес записи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0536" y="14173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0536" y="1417320"/>
            <a:ext cx="73152" cy="1051560"/>
          </a:xfrm>
          <a:prstGeom prst="rect">
            <a:avLst/>
          </a:prstGeom>
          <a:solidFill>
            <a:srgbClr val="EFAD4D"/>
          </a:solidFill>
          <a:ln>
            <a:solidFill>
              <a:srgbClr val="EFA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545336"/>
            <a:ext cx="21031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EFAD4D"/>
                </a:solidFill>
                <a:latin typeface="Aptos"/>
              </a:rPr>
              <a:t>take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1920240"/>
            <a:ext cx="210312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вариант и дубль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17520"/>
            <a:ext cx="10424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Оператор должен видеть текущее слово крупно и идти по списку без ручного переименования файлов.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После успешной записи приложение само переходит дальше, но не двигает прогресс при ошибке.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Каждый MP4 должен иметь понятное имя и метаданные: signer, word_id, word, take, device, record, duration.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Главный риск этапа: файл есть, но он связан не с тем словом, дублем или ракурсом.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Что было реализовано для слов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Функции, которые превратили съемку в управляемый процесс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2926080" cy="502920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Функция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4448" y="1353312"/>
            <a:ext cx="7498079" cy="502920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Зачем она нужна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PDF / список слов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4448" y="1856232"/>
            <a:ext cx="7498079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импортировать словарь и сохранить порядок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59152"/>
            <a:ext cx="292608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word_id + 4 цифры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4448" y="2359152"/>
            <a:ext cx="7498079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стабильная сортировка и сквозной адрес слова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62072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count / take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84448" y="2862072"/>
            <a:ext cx="7498079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снимать несколько жестов одного слова без путаницы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364992"/>
            <a:ext cx="292608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manual back / retake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84448" y="3364992"/>
            <a:ext cx="7498079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доснимать старое слово и не ломать основной прогресс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867912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BAD / SUPERSEDED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4448" y="3867912"/>
            <a:ext cx="7498079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оставлять историю пересъемок и понимать, какой дубль годен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370832"/>
            <a:ext cx="292608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NDJSON + sidecar 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84448" y="4370832"/>
            <a:ext cx="7498079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сохранять метаданные и разбирать их скриптами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873752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3-camera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4448" y="4873752"/>
            <a:ext cx="7498079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видеть, какой телефон пишет и кто подтвердил сохранение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Ошибки этапа слов и фиксы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Самые опасные ошибки были тихими: приложение могло выглядеть успешным, а данные уже были испорчены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2423160" cy="530352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Ошибка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325880"/>
            <a:ext cx="3794760" cy="530352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Как проявлялась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1325880"/>
            <a:ext cx="4526280" cy="530352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Что сделали / потребовали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56232"/>
            <a:ext cx="2423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1E272E"/>
                </a:solidFill>
                <a:latin typeface="Aptos"/>
              </a:rPr>
              <a:t>stop/start потерян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856232"/>
            <a:ext cx="37947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склейка двух записей или файл отсутствует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856232"/>
            <a:ext cx="4526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ack, retry, desired state, запас после stop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86584"/>
            <a:ext cx="2423160" cy="530352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1E272E"/>
                </a:solidFill>
                <a:latin typeface="Aptos"/>
              </a:rPr>
              <a:t>0 байт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386584"/>
            <a:ext cx="3794760" cy="530352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файл пустой, но раньше мог быть 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2386584"/>
            <a:ext cx="4526280" cy="530352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нулевой файл =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16936"/>
            <a:ext cx="2423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1E272E"/>
                </a:solidFill>
                <a:latin typeface="Aptos"/>
              </a:rPr>
              <a:t>STOP_SAVE shift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916936"/>
            <a:ext cx="37947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подтверждение относилось к прошлой записи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2916936"/>
            <a:ext cx="4526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сверка STOP_SAVE со своей сессией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47288"/>
            <a:ext cx="2423160" cy="530352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1E272E"/>
                </a:solidFill>
                <a:latin typeface="Aptos"/>
              </a:rPr>
              <a:t>device identity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447288"/>
            <a:ext cx="3794760" cy="530352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телефон назывался чужим номером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3447288"/>
            <a:ext cx="4526280" cy="530352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device_id и CAMERA_LAYOUT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77640"/>
            <a:ext cx="2423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1E272E"/>
                </a:solidFill>
                <a:latin typeface="Aptos"/>
              </a:rPr>
              <a:t>orientation / reticle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977640"/>
            <a:ext cx="37947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при START кадр поворачивался, пропадал прицел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3977640"/>
            <a:ext cx="4526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не менять preview rotation при записи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E76551"/>
                </a:solidFill>
                <a:latin typeface="Aptos"/>
              </a:defRPr>
            </a:pPr>
            <a:r>
              <a:t>Принцип фиксов: оператор должен узнать о проблеме на площадке, пока слово можно переснять сразу.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Результат по словам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Базовый режим записи стал проверяемым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987552"/>
          </a:xfrm>
          <a:prstGeom prst="rect">
            <a:avLst/>
          </a:prstGeom>
          <a:solidFill>
            <a:srgbClr val="3476B4"/>
          </a:solidFill>
          <a:ln>
            <a:solidFill>
              <a:srgbClr val="34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45336"/>
            <a:ext cx="205740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3476B4"/>
                </a:solidFill>
                <a:latin typeface="Aptos"/>
              </a:rPr>
              <a:t>1209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205740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записей 07.08, 10 сайнеров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73152" cy="987552"/>
          </a:xfrm>
          <a:prstGeom prst="rect">
            <a:avLst/>
          </a:prstGeom>
          <a:solidFill>
            <a:srgbClr val="EFAD4D"/>
          </a:solidFill>
          <a:ln>
            <a:solidFill>
              <a:srgbClr val="EFA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545336"/>
            <a:ext cx="205740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EFAD4D"/>
                </a:solidFill>
                <a:latin typeface="Aptos"/>
              </a:rPr>
              <a:t>0.48%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1920240"/>
            <a:ext cx="205740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дефектных файлов 10-12.08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17320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73152" cy="987552"/>
          </a:xfrm>
          <a:prstGeom prst="rect">
            <a:avLst/>
          </a:prstGeom>
          <a:solidFill>
            <a:srgbClr val="14968E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45336"/>
            <a:ext cx="205740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14968E"/>
                </a:solidFill>
                <a:latin typeface="Aptos"/>
              </a:rPr>
              <a:t>5872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920240"/>
            <a:ext cx="205740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начатых записей 24-28.08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417320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417320"/>
            <a:ext cx="73152" cy="987552"/>
          </a:xfrm>
          <a:prstGeom prst="rect">
            <a:avLst/>
          </a:prstGeom>
          <a:solidFill>
            <a:srgbClr val="E76551"/>
          </a:solidFill>
          <a:ln>
            <a:solidFill>
              <a:srgbClr val="E76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1545336"/>
            <a:ext cx="205740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E76551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1920240"/>
            <a:ext cx="205740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реальные проблемы сохранения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6324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После слов стало понятно, какие проверки обязательны: журнал против диска, 3/3 сохранений, длительность между камерами, состав списка.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Слова закрыли базовую механику: импорт, движение по списку, имена файлов, метаданные, пересъемки и проверка сохранения.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Именно этот фундамент позволил безопасно перейти к фразам.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58368"/>
            <a:ext cx="1234440" cy="310896"/>
          </a:xfrm>
          <a:prstGeom prst="roundRect">
            <a:avLst/>
          </a:prstGeom>
          <a:solidFill>
            <a:srgbClr val="319A5D"/>
          </a:solidFill>
          <a:ln>
            <a:solidFill>
              <a:srgbClr val="31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Блок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6984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Сбор фраз: 916 единиц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880360"/>
            <a:ext cx="97840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800" b="0">
                <a:solidFill>
                  <a:srgbClr val="DCE4E5"/>
                </a:solidFill>
                <a:latin typeface="Aptos"/>
              </a:rPr>
              <a:t>Второй этап: длинный текст, сквозная нумерация и контроль длительности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Структура презентации: слова -&gt; фразы -&gt; общий итог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Задача сбора фраз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Фразы нельзя просто записать как длинное слово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17320"/>
            <a:ext cx="2423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73152" cy="1024128"/>
          </a:xfrm>
          <a:prstGeom prst="rect">
            <a:avLst/>
          </a:prstGeom>
          <a:solidFill>
            <a:srgbClr val="319A5D"/>
          </a:solidFill>
          <a:ln>
            <a:solidFill>
              <a:srgbClr val="31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21031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319A5D"/>
                </a:solidFill>
                <a:latin typeface="Aptos"/>
              </a:rPr>
              <a:t>916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0312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фраз в расширении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423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73152" cy="1024128"/>
          </a:xfrm>
          <a:prstGeom prst="rect">
            <a:avLst/>
          </a:prstGeom>
          <a:solidFill>
            <a:srgbClr val="14968E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545336"/>
            <a:ext cx="21031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14968E"/>
                </a:solidFill>
                <a:latin typeface="Aptos"/>
              </a:rPr>
              <a:t>1357-2272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1920240"/>
            <a:ext cx="210312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диапазон phrase_id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417320"/>
            <a:ext cx="2423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1417320"/>
            <a:ext cx="73152" cy="1024128"/>
          </a:xfrm>
          <a:prstGeom prst="rect">
            <a:avLst/>
          </a:prstGeom>
          <a:solidFill>
            <a:srgbClr val="EFAD4D"/>
          </a:solidFill>
          <a:ln>
            <a:solidFill>
              <a:srgbClr val="EFA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545336"/>
            <a:ext cx="21031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EFAD4D"/>
                </a:solidFill>
                <a:latin typeface="Aptos"/>
              </a:rPr>
              <a:t>slug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920240"/>
            <a:ext cx="210312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короткое имя файла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0536" y="1417320"/>
            <a:ext cx="2423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0536" y="1417320"/>
            <a:ext cx="73152" cy="1024128"/>
          </a:xfrm>
          <a:prstGeom prst="rect">
            <a:avLst/>
          </a:prstGeom>
          <a:solidFill>
            <a:srgbClr val="7561AB"/>
          </a:solidFill>
          <a:ln>
            <a:solidFill>
              <a:srgbClr val="75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545336"/>
            <a:ext cx="21031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7561AB"/>
                </a:solidFill>
                <a:latin typeface="Aptos"/>
              </a:rPr>
              <a:t>1500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1920240"/>
            <a:ext cx="210312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порог разброса длительности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17520"/>
            <a:ext cx="10287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Словарь заканчивается на 1356, поэтому фразы продолжают ту же нумерацию: 1357-2272.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Нельзя нумеровать фразы с единицы: номера попадут поверх уже существующих слов.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Полный текст фразы хранится в metadata, а имя файла остается коротким и стабильным.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Для длинных фраз нужны segment_index / segment_count и ожидаемая длительность.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Что добавили для фраз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Расширили приложение, не ломая режим 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2971800" cy="502920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Поле / функция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3630168" y="1353312"/>
            <a:ext cx="7452360" cy="502920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Назначение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2971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mode = phrase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30168" y="1856232"/>
            <a:ext cx="7452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отделить фразы от старого режима word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59152"/>
            <a:ext cx="297180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phrase_id из списка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30168" y="2359152"/>
            <a:ext cx="745236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сохранить сквозную нумерацию корпуса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62072"/>
            <a:ext cx="2971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phrase_text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30168" y="2862072"/>
            <a:ext cx="7452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хранить полный текст в metadata и логе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364992"/>
            <a:ext cx="297180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file_slug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0168" y="3364992"/>
            <a:ext cx="745236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делать короткие имена: phrase_1380_a_1_device_2...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867912"/>
            <a:ext cx="2971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expected_duration_ms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0168" y="3867912"/>
            <a:ext cx="7452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сравнивать запись с ожидаемой длиной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370832"/>
            <a:ext cx="297180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segment_index / segment_count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0168" y="4370832"/>
            <a:ext cx="745236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готовность к разбиению длинных фраз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873752"/>
            <a:ext cx="2971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duration_check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30168" y="4873752"/>
            <a:ext cx="7452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после stop проверять разброс длительности 3 камер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Проверка фраз на практике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Сентябрь показал, что контроль стал работать прямо на площадке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987552"/>
          </a:xfrm>
          <a:prstGeom prst="rect">
            <a:avLst/>
          </a:prstGeom>
          <a:solidFill>
            <a:srgbClr val="319A5D"/>
          </a:solidFill>
          <a:ln>
            <a:solidFill>
              <a:srgbClr val="31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45336"/>
            <a:ext cx="205740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319A5D"/>
                </a:solidFill>
                <a:latin typeface="Aptos"/>
              </a:rPr>
              <a:t>1142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205740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записи за 09-11.09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73152" cy="987552"/>
          </a:xfrm>
          <a:prstGeom prst="rect">
            <a:avLst/>
          </a:prstGeom>
          <a:solidFill>
            <a:srgbClr val="14968E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545336"/>
            <a:ext cx="205740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14968E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1920240"/>
            <a:ext cx="205740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потеряно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17320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73152" cy="987552"/>
          </a:xfrm>
          <a:prstGeom prst="rect">
            <a:avLst/>
          </a:prstGeom>
          <a:solidFill>
            <a:srgbClr val="3476B4"/>
          </a:solidFill>
          <a:ln>
            <a:solidFill>
              <a:srgbClr val="34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45336"/>
            <a:ext cx="205740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3476B4"/>
                </a:solidFill>
                <a:latin typeface="Aptos"/>
              </a:rPr>
              <a:t>303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920240"/>
            <a:ext cx="205740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уникальных phrase_id 09.09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417320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417320"/>
            <a:ext cx="73152" cy="987552"/>
          </a:xfrm>
          <a:prstGeom prst="rect">
            <a:avLst/>
          </a:prstGeom>
          <a:solidFill>
            <a:srgbClr val="EFAD4D"/>
          </a:solidFill>
          <a:ln>
            <a:solidFill>
              <a:srgbClr val="EFA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1545336"/>
            <a:ext cx="205740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EFAD4D"/>
                </a:solidFill>
                <a:latin typeface="Aptos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1920240"/>
            <a:ext cx="205740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стартов заблокированы вместо ложного 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06324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31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063240"/>
            <a:ext cx="4983480" cy="73152"/>
          </a:xfrm>
          <a:prstGeom prst="rect">
            <a:avLst/>
          </a:prstGeom>
          <a:solidFill>
            <a:srgbClr val="319A5D"/>
          </a:solidFill>
          <a:ln>
            <a:solidFill>
              <a:srgbClr val="31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218688"/>
            <a:ext cx="466344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E272E"/>
                </a:solidFill>
                <a:latin typeface="Aptos"/>
              </a:rPr>
              <a:t>Показательный случай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575304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5E6970"/>
                </a:solidFill>
                <a:latin typeface="Aptos"/>
              </a:defRPr>
            </a:pPr>
            <a:r>
              <a:t>Фраза 1380: две камеры записали 10.3 с, третья 7.3 с</a:t>
            </a:r>
          </a:p>
          <a:p>
            <a:pPr>
              <a:spcAft>
                <a:spcPts val="500"/>
              </a:spcAft>
              <a:defRPr sz="1000">
                <a:solidFill>
                  <a:srgbClr val="5E6970"/>
                </a:solidFill>
                <a:latin typeface="Aptos"/>
              </a:defRPr>
            </a:pPr>
            <a:r>
              <a:t>duration_check поймал обрыв</a:t>
            </a:r>
          </a:p>
          <a:p>
            <a:pPr>
              <a:spcAft>
                <a:spcPts val="500"/>
              </a:spcAft>
              <a:defRPr sz="1000">
                <a:solidFill>
                  <a:srgbClr val="5E6970"/>
                </a:solidFill>
                <a:latin typeface="Aptos"/>
              </a:defRPr>
            </a:pPr>
            <a:r>
              <a:t>оператор переснял через 10 минут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6324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063240"/>
            <a:ext cx="4983480" cy="73152"/>
          </a:xfrm>
          <a:prstGeom prst="rect">
            <a:avLst/>
          </a:prstGeom>
          <a:solidFill>
            <a:srgbClr val="14968E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218688"/>
            <a:ext cx="466344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E272E"/>
                </a:solidFill>
                <a:latin typeface="Aptos"/>
              </a:rPr>
              <a:t>Почему это важно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575304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5E6970"/>
                </a:solidFill>
                <a:latin typeface="Aptos"/>
              </a:defRPr>
            </a:pPr>
            <a:r>
              <a:t>раньше такие дефекты находили через две недели</a:t>
            </a:r>
          </a:p>
          <a:p>
            <a:pPr>
              <a:spcAft>
                <a:spcPts val="500"/>
              </a:spcAft>
              <a:defRPr sz="1000">
                <a:solidFill>
                  <a:srgbClr val="5E6970"/>
                </a:solidFill>
                <a:latin typeface="Aptos"/>
              </a:defRPr>
            </a:pPr>
            <a:r>
              <a:t>теперь ошибка видна до ухода сайнера</a:t>
            </a:r>
          </a:p>
          <a:p>
            <a:pPr>
              <a:spcAft>
                <a:spcPts val="500"/>
              </a:spcAft>
              <a:defRPr sz="1000">
                <a:solidFill>
                  <a:srgbClr val="5E6970"/>
                </a:solidFill>
                <a:latin typeface="Aptos"/>
              </a:defRPr>
            </a:pPr>
            <a:r>
              <a:t>пересъемка становится частью процесса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Что еще нужно по фразам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Остались пункты, которые уменьшают ручную работу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53312"/>
            <a:ext cx="2468880" cy="530352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Проблема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1353312"/>
            <a:ext cx="3794760" cy="530352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Почему важно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353312"/>
            <a:ext cx="4434840" cy="530352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Что сделать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83664"/>
            <a:ext cx="2468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1E272E"/>
                </a:solidFill>
                <a:latin typeface="Aptos"/>
              </a:rPr>
              <a:t>attempt не растет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883664"/>
            <a:ext cx="37947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пересъемки выглядят одинаково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883664"/>
            <a:ext cx="4434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реально писать a_1 / a_2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14016"/>
            <a:ext cx="2468880" cy="530352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1E272E"/>
                </a:solidFill>
                <a:latin typeface="Aptos"/>
              </a:rPr>
              <a:t>expected_duration_ms = null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414016"/>
            <a:ext cx="3794760" cy="530352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проверка длительности без опоры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414016"/>
            <a:ext cx="4434840" cy="530352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брать время из списка фраз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44368"/>
            <a:ext cx="2468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1E272E"/>
                </a:solidFill>
                <a:latin typeface="Aptos"/>
              </a:rPr>
              <a:t>длинные фразы обрезаются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2944368"/>
            <a:ext cx="37947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лог теряет читаемость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944368"/>
            <a:ext cx="4434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полный текст в metadata без лимита 56 символов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2468880" cy="530352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1E272E"/>
                </a:solidFill>
                <a:latin typeface="Aptos"/>
              </a:rPr>
              <a:t>счетчик сбрасывается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3474720"/>
            <a:ext cx="3794760" cy="530352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одни номера у разных людей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3474720"/>
            <a:ext cx="4434840" cy="530352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сброс один раз в начале дня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05072"/>
            <a:ext cx="2468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1E272E"/>
                </a:solidFill>
                <a:latin typeface="Aptos"/>
              </a:rPr>
              <a:t>экспозиция гуляет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4005072"/>
            <a:ext cx="37947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модель учит условия, а не жест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005072"/>
            <a:ext cx="4434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0">
                <a:solidFill>
                  <a:srgbClr val="1E272E"/>
                </a:solidFill>
                <a:latin typeface="Aptos"/>
              </a:rPr>
              <a:t>фиксировать ISO/баланс/фокус или логировать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58368"/>
            <a:ext cx="1234440" cy="310896"/>
          </a:xfrm>
          <a:prstGeom prst="roundRect">
            <a:avLst/>
          </a:prstGeom>
          <a:solidFill>
            <a:srgbClr val="14968E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Блок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6984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Общая система и 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880360"/>
            <a:ext cx="97840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800" b="0">
                <a:solidFill>
                  <a:srgbClr val="DCE4E5"/>
                </a:solidFill>
                <a:latin typeface="Aptos"/>
              </a:rPr>
              <a:t>Что получилось как приложение, чем оно отличается от обычной камеры и как контролируется качество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Структура презентации: слова -&gt; фразы -&gt; общий итог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Общая архитектура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Один workflow для слов и фраз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2743200" cy="566928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Компонент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389888"/>
            <a:ext cx="7818120" cy="566928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Ответственность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56816"/>
            <a:ext cx="2743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1E272E"/>
                </a:solidFill>
                <a:latin typeface="Aptos"/>
              </a:rPr>
              <a:t>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956816"/>
            <a:ext cx="7818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E272E"/>
                </a:solidFill>
                <a:latin typeface="Aptos"/>
              </a:rPr>
              <a:t>импорт списков, очередь, сайнеры, прогресс, старт/стоп, проверки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23744"/>
            <a:ext cx="2743200" cy="566928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1E272E"/>
                </a:solidFill>
                <a:latin typeface="Aptos"/>
              </a:rPr>
              <a:t>Mobile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523744"/>
            <a:ext cx="7818120" cy="566928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E272E"/>
                </a:solidFill>
                <a:latin typeface="Aptos"/>
              </a:rPr>
              <a:t>камера, запись MP4, sidecar JSON, статус телефона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090672"/>
            <a:ext cx="2743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1E272E"/>
                </a:solidFill>
                <a:latin typeface="Aptos"/>
              </a:rPr>
              <a:t>Протокол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3090672"/>
            <a:ext cx="7818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E272E"/>
                </a:solidFill>
                <a:latin typeface="Aptos"/>
              </a:rPr>
              <a:t>HTTP сейчас, WS/scheduler подготовлен для более точного старта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657600"/>
            <a:ext cx="2743200" cy="566928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1E272E"/>
                </a:solidFill>
                <a:latin typeface="Aptos"/>
              </a:rPr>
              <a:t>Логи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657600"/>
            <a:ext cx="7818120" cy="566928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E272E"/>
                </a:solidFill>
                <a:latin typeface="Aptos"/>
              </a:rPr>
              <a:t>NDJSON: START, START_ACK, STOP, STOP_SAVE, SESSION_CHECK, CAMERA_LAYOUT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224528"/>
            <a:ext cx="2743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1E272E"/>
                </a:solidFill>
                <a:latin typeface="Aptos"/>
              </a:rPr>
              <a:t>Аналитика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224528"/>
            <a:ext cx="7818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E272E"/>
                </a:solidFill>
                <a:latin typeface="Aptos"/>
              </a:rPr>
              <a:t>сверка 3/3 файлов, длительности, FPS, ошибок, проблемных дней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4968E"/>
                </a:solidFill>
                <a:latin typeface="Aptos"/>
              </a:defRPr>
            </a:pPr>
            <a:r>
              <a:t>Итог архитектуры: word и phrase используют общий надежный цикл записи, но имеют разные metadata-поля.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Почему не просто Blackmagic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Blackmagic пишет видео; Smart Cam управляет корпусом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148840" cy="548640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Критерий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15768" y="1417320"/>
            <a:ext cx="4114800" cy="548640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Blackmagic / обычная камера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30568" y="1417320"/>
            <a:ext cx="4480560" cy="548640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Smart Cam / Three Cam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21488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Список заданий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5768" y="196596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оператор ведет отдельно</a:t>
            </a:r>
          </a:p>
        </p:txBody>
      </p:sp>
      <p:sp>
        <p:nvSpPr>
          <p:cNvPr id="9" name="Rectangle 8"/>
          <p:cNvSpPr/>
          <p:nvPr/>
        </p:nvSpPr>
        <p:spPr>
          <a:xfrm>
            <a:off x="6830568" y="1965960"/>
            <a:ext cx="44805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word_id / phrase_id внутри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14600"/>
            <a:ext cx="2148840" cy="54864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3 ракурса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5768" y="2514600"/>
            <a:ext cx="4114800" cy="54864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синхронизация вручную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0568" y="2514600"/>
            <a:ext cx="4480560" cy="54864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3 телефона как одна сессия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63240"/>
            <a:ext cx="21488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Метаданные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15768" y="306324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отдельная таблица или ручная работа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0568" y="3063240"/>
            <a:ext cx="44805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metadata JSON рядом с MP4 + NDJSON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611880"/>
            <a:ext cx="2148840" cy="54864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Ошибки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5768" y="3611880"/>
            <a:ext cx="4114800" cy="54864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часто видны после просмотра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0568" y="3611880"/>
            <a:ext cx="4480560" cy="54864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START_FAILED, SESSION_CHECK, duration_check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160520"/>
            <a:ext cx="21488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Пересъемка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15768" y="416052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ручное решение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8" y="4160520"/>
            <a:ext cx="44805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BAD / SUPERSEDED / RETAKE / attempt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Вывод: Blackmagic решает качество картинки, а наш проект решает качество, воспроизводимость и проверяемость ML-датасета.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Общий контроль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Теперь можно считать состояние корпуса, а не спорить на глаз</a:t>
            </a:r>
          </a:p>
        </p:txBody>
      </p:sp>
      <p:pic>
        <p:nvPicPr>
          <p:cNvPr id="4" name="Picture 3" descr="daily_s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995160" cy="2788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353312"/>
            <a:ext cx="2468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1000" y="1353312"/>
            <a:ext cx="73152" cy="868680"/>
          </a:xfrm>
          <a:prstGeom prst="rect">
            <a:avLst/>
          </a:prstGeom>
          <a:solidFill>
            <a:srgbClr val="14968E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2168" y="1481328"/>
            <a:ext cx="2148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14968E"/>
                </a:solidFill>
                <a:latin typeface="Aptos"/>
              </a:rPr>
              <a:t>17 387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2168" y="1856232"/>
            <a:ext cx="21488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SESSION_CHECK в локальных логах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359152"/>
            <a:ext cx="2468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01000" y="2359152"/>
            <a:ext cx="73152" cy="868680"/>
          </a:xfrm>
          <a:prstGeom prst="rect">
            <a:avLst/>
          </a:prstGeom>
          <a:solidFill>
            <a:srgbClr val="319A5D"/>
          </a:solidFill>
          <a:ln>
            <a:solidFill>
              <a:srgbClr val="31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2487168"/>
            <a:ext cx="2148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319A5D"/>
                </a:solidFill>
                <a:latin typeface="Aptos"/>
              </a:rPr>
              <a:t>52 149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2862072"/>
            <a:ext cx="21488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STOP_SAVE 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364992"/>
            <a:ext cx="2468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3364992"/>
            <a:ext cx="73152" cy="868680"/>
          </a:xfrm>
          <a:prstGeom prst="rect">
            <a:avLst/>
          </a:prstGeom>
          <a:solidFill>
            <a:srgbClr val="3476B4"/>
          </a:solidFill>
          <a:ln>
            <a:solidFill>
              <a:srgbClr val="34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3493008"/>
            <a:ext cx="2148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3476B4"/>
                </a:solidFill>
                <a:latin typeface="Aptos"/>
              </a:rPr>
              <a:t>345.6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3867912"/>
            <a:ext cx="21488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объем по локальным логам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4370832"/>
            <a:ext cx="2468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4370832"/>
            <a:ext cx="73152" cy="868680"/>
          </a:xfrm>
          <a:prstGeom prst="rect">
            <a:avLst/>
          </a:prstGeom>
          <a:solidFill>
            <a:srgbClr val="EFAD4D"/>
          </a:solidFill>
          <a:ln>
            <a:solidFill>
              <a:srgbClr val="EFA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4498848"/>
            <a:ext cx="2148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EFAD4D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4873752"/>
            <a:ext cx="21488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битых JSON-строк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E6970"/>
                </a:solidFill>
                <a:latin typeface="Aptos"/>
              </a:defRPr>
            </a:pPr>
            <a:r>
              <a:t>Локально прочитано: 23 NDJSON-файла, 202 668 строк; START_FAILED: 183, EMERGENCY_STOP: 46.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FPS и разрешение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Переход на 720p решил часть проблемы качества записи</a:t>
            </a:r>
          </a:p>
        </p:txBody>
      </p:sp>
      <p:pic>
        <p:nvPicPr>
          <p:cNvPr id="4" name="Picture 3" descr="fps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406640" cy="2834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94192" y="132588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94192" y="1325880"/>
            <a:ext cx="73152" cy="868680"/>
          </a:xfrm>
          <a:prstGeom prst="rect">
            <a:avLst/>
          </a:prstGeom>
          <a:solidFill>
            <a:srgbClr val="3476B4"/>
          </a:solidFill>
          <a:ln>
            <a:solidFill>
              <a:srgbClr val="34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453896"/>
            <a:ext cx="21031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3476B4"/>
                </a:solidFill>
                <a:latin typeface="Aptos"/>
              </a:rPr>
              <a:t>29.92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828800"/>
            <a:ext cx="210312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основная частота корпуса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4192" y="233172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94192" y="2331720"/>
            <a:ext cx="73152" cy="868680"/>
          </a:xfrm>
          <a:prstGeom prst="rect">
            <a:avLst/>
          </a:prstGeom>
          <a:solidFill>
            <a:srgbClr val="E76551"/>
          </a:solidFill>
          <a:ln>
            <a:solidFill>
              <a:srgbClr val="E76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459736"/>
            <a:ext cx="21031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E76551"/>
                </a:solidFill>
                <a:latin typeface="Aptos"/>
              </a:rPr>
              <a:t>28.5%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834640"/>
            <a:ext cx="210312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клипов медленнее нее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94192" y="333756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94192" y="3337560"/>
            <a:ext cx="73152" cy="868680"/>
          </a:xfrm>
          <a:prstGeom prst="rect">
            <a:avLst/>
          </a:prstGeom>
          <a:solidFill>
            <a:srgbClr val="EFAD4D"/>
          </a:solidFill>
          <a:ln>
            <a:solidFill>
              <a:srgbClr val="EFA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465576"/>
            <a:ext cx="21031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EFAD4D"/>
                </a:solidFill>
                <a:latin typeface="Aptos"/>
              </a:rPr>
              <a:t>12.39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840480"/>
            <a:ext cx="210312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худший FPS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800600"/>
            <a:ext cx="2286000" cy="475488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Разрешение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4800600"/>
            <a:ext cx="1828800" cy="475488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Клипы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4800600"/>
            <a:ext cx="5486400" cy="475488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Вывод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276088"/>
            <a:ext cx="2286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1E272E"/>
                </a:solidFill>
                <a:latin typeface="Aptos"/>
              </a:rPr>
              <a:t>1080x1920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5276088"/>
            <a:ext cx="1828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E272E"/>
                </a:solidFill>
                <a:latin typeface="Aptos"/>
              </a:rPr>
              <a:t>33 724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5276088"/>
            <a:ext cx="5486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E272E"/>
                </a:solidFill>
                <a:latin typeface="Aptos"/>
              </a:rPr>
              <a:t>телефоны теряли кадры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751576"/>
            <a:ext cx="2286000" cy="475488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1E272E"/>
                </a:solidFill>
                <a:latin typeface="Aptos"/>
              </a:rPr>
              <a:t>720x1280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5751576"/>
            <a:ext cx="1828800" cy="475488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E272E"/>
                </a:solidFill>
                <a:latin typeface="Aptos"/>
              </a:rPr>
              <a:t>17 867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5751576"/>
            <a:ext cx="5486400" cy="475488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E272E"/>
                </a:solidFill>
                <a:latin typeface="Aptos"/>
              </a:rPr>
              <a:t>нижний хвост FPS исчез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Итог и следующий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Что проект дал и что нужно довести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2331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73152" cy="987552"/>
          </a:xfrm>
          <a:prstGeom prst="rect">
            <a:avLst/>
          </a:prstGeom>
          <a:solidFill>
            <a:srgbClr val="3476B4"/>
          </a:solidFill>
          <a:ln>
            <a:solidFill>
              <a:srgbClr val="34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545336"/>
            <a:ext cx="20116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3476B4"/>
                </a:solidFill>
                <a:latin typeface="Aptos"/>
              </a:rPr>
              <a:t>слова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20240"/>
            <a:ext cx="201168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1356 единиц: базовый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17320"/>
            <a:ext cx="2331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417320"/>
            <a:ext cx="73152" cy="987552"/>
          </a:xfrm>
          <a:prstGeom prst="rect">
            <a:avLst/>
          </a:prstGeom>
          <a:solidFill>
            <a:srgbClr val="319A5D"/>
          </a:solidFill>
          <a:ln>
            <a:solidFill>
              <a:srgbClr val="31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1545336"/>
            <a:ext cx="20116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319A5D"/>
                </a:solidFill>
                <a:latin typeface="Aptos"/>
              </a:rPr>
              <a:t>фразы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1920240"/>
            <a:ext cx="201168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916 единиц: расширение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33872" y="1417320"/>
            <a:ext cx="2331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33872" y="1417320"/>
            <a:ext cx="73152" cy="987552"/>
          </a:xfrm>
          <a:prstGeom prst="rect">
            <a:avLst/>
          </a:prstGeom>
          <a:solidFill>
            <a:srgbClr val="14968E"/>
          </a:solidFill>
          <a:ln>
            <a:solidFill>
              <a:srgbClr val="14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545336"/>
            <a:ext cx="20116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14968E"/>
                </a:solidFill>
                <a:latin typeface="Aptos"/>
              </a:rPr>
              <a:t>аудит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201168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логи + проверки + FPS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21624" y="1417320"/>
            <a:ext cx="2331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21624" y="1417320"/>
            <a:ext cx="73152" cy="987552"/>
          </a:xfrm>
          <a:prstGeom prst="rect">
            <a:avLst/>
          </a:prstGeom>
          <a:solidFill>
            <a:srgbClr val="EFAD4D"/>
          </a:solidFill>
          <a:ln>
            <a:solidFill>
              <a:srgbClr val="EFA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1545336"/>
            <a:ext cx="20116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100" b="1">
                <a:solidFill>
                  <a:srgbClr val="EFAD4D"/>
                </a:solidFill>
                <a:latin typeface="Aptos"/>
              </a:rPr>
              <a:t>оператор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1920240"/>
            <a:ext cx="201168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00" b="0">
                <a:solidFill>
                  <a:srgbClr val="5E6970"/>
                </a:solidFill>
                <a:latin typeface="Aptos"/>
              </a:rPr>
              <a:t>ошибка видна на площадке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880360"/>
            <a:ext cx="10149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Мы разработали приложение как конвейер сбора датасета: импорт -&gt; запись -&gt; сохранение -&gt; проверка -&gt; пересъемка.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Для слов приложение решило связь видео с word_id, дублями, сайнером и тремя камерами.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Для фраз добавлены phrase_id, короткие file_slug, полный текст, сегменты и проверка длительности.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Aptos"/>
              </a:defRPr>
            </a:pPr>
            <a:r>
              <a:t>• Общий следующий шаг: закрыть attempt, expected_duration_ms, счетчик дня, экспозицию и протокол агента.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900" b="1">
                <a:solidFill>
                  <a:srgbClr val="1E272E"/>
                </a:solidFill>
                <a:latin typeface="Aptos Display"/>
              </a:rPr>
              <a:t>Источники внутри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1498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5E6970"/>
                </a:solidFill>
                <a:latin typeface="Aptos"/>
              </a:rPr>
              <a:t>Откуда взяты цифры и выводы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4572000" cy="502920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Файл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7800" y="1353312"/>
            <a:ext cx="5806440" cy="502920"/>
          </a:xfrm>
          <a:prstGeom prst="rect">
            <a:avLst/>
          </a:prstGeom>
          <a:solidFill>
            <a:srgbClr val="263238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Что взято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56232"/>
            <a:ext cx="4572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TZ_2026_08_09.md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0" y="1856232"/>
            <a:ext cx="5806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требования к сбору слов и логам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59152"/>
            <a:ext cx="457200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BUG_REPORT_shooting_app.md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2359152"/>
            <a:ext cx="580644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ошибки stop/start, device identity, orientation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62072"/>
            <a:ext cx="4572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LOGS_AUDIT_2026-09-02.md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2862072"/>
            <a:ext cx="5806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аудит логов 24-28 августа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364992"/>
            <a:ext cx="457200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FOR_DEVS_2026_09_08.md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3364992"/>
            <a:ext cx="580644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переход от слов к фразам, 1356 + 916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67912"/>
            <a:ext cx="4572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FOR_DEVS_2026_09_12.md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3867912"/>
            <a:ext cx="5806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результаты 9-11 сентября и FPS-аудит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370832"/>
            <a:ext cx="457200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recording_logs_analysis_20260824_20260924.md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4370832"/>
            <a:ext cx="5806440" cy="502920"/>
          </a:xfrm>
          <a:prstGeom prst="rect">
            <a:avLst/>
          </a:prstGeom>
          <a:solidFill>
            <a:srgbClr val="F3F6F4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сводка по сессиям и файлам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873752"/>
            <a:ext cx="4572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1E272E"/>
                </a:solidFill>
                <a:latin typeface="Aptos"/>
              </a:rPr>
              <a:t>dashboard/recording_logs/*.ndjson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4873752"/>
            <a:ext cx="5806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E272E"/>
                </a:solidFill>
                <a:latin typeface="Aptos"/>
              </a:rPr>
              <a:t>локальная проверка событий, статусов, FPS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5E6970"/>
                </a:solidFill>
                <a:latin typeface="Aptos"/>
              </a:rPr>
              <a:t>Smart Cam / Three Cam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5E6970"/>
                </a:solidFill>
                <a:latin typeface="Aptos"/>
              </a:rP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